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1" autoAdjust="0"/>
    <p:restoredTop sz="94660"/>
  </p:normalViewPr>
  <p:slideViewPr>
    <p:cSldViewPr snapToGrid="0">
      <p:cViewPr varScale="1">
        <p:scale>
          <a:sx n="104" d="100"/>
          <a:sy n="104" d="100"/>
        </p:scale>
        <p:origin x="92" y="2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01F49B66-DBC3-45EE-A6E1-DE10A6C186C8}"/>
              </a:ext>
            </a:extLst>
          </p:cNvPr>
          <p:cNvSpPr>
            <a:spLocks noGrp="1"/>
          </p:cNvSpPr>
          <p:nvPr>
            <p:ph type="dt" sz="half" idx="10"/>
          </p:nvPr>
        </p:nvSpPr>
        <p:spPr/>
        <p:txBody>
          <a:bodyPr/>
          <a:lstStyle/>
          <a:p>
            <a:pPr algn="r"/>
            <a:fld id="{3F9AFA87-1417-4992-ABD9-27C3BC8CC883}" type="datetimeFigureOut">
              <a:rPr lang="en-US" smtClean="0"/>
              <a:pPr algn="r"/>
              <a:t>9/11/2023</a:t>
            </a:fld>
            <a:endParaRPr lang="en-US" dirty="0"/>
          </a:p>
        </p:txBody>
      </p:sp>
      <p:sp>
        <p:nvSpPr>
          <p:cNvPr id="8" name="Footer Placeholder 7">
            <a:extLst>
              <a:ext uri="{FF2B5EF4-FFF2-40B4-BE49-F238E27FC236}">
                <a16:creationId xmlns:a16="http://schemas.microsoft.com/office/drawing/2014/main" id="{241085F0-1967-4B4F-9824-58E9F2E05125}"/>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40AEDEE5-31B5-4868-8C16-47FF43E276A4}"/>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100119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869617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9F006A-7EEE-4DB0-8F92-D34C0D46C38E}"/>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5" name="Footer Placeholder 4">
            <a:extLst>
              <a:ext uri="{FF2B5EF4-FFF2-40B4-BE49-F238E27FC236}">
                <a16:creationId xmlns:a16="http://schemas.microsoft.com/office/drawing/2014/main" id="{FDA3F2ED-2B0E-44A9-8603-286CA0634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D801C-6B4E-40B6-9D6E-558192264D2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71522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fld id="{3F9AFA87-1417-4992-ABD9-27C3BC8CC883}" type="datetimeFigureOut">
              <a:rPr lang="en-US" smtClean="0"/>
              <a:t>9/11/2023</a:t>
            </a:fld>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1215641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42225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701048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803674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81872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025031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391602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fld id="{3F9AFA87-1417-4992-ABD9-27C3BC8CC883}" type="datetimeFigureOut">
              <a:rPr lang="en-US" smtClean="0"/>
              <a:t>9/11/2023</a:t>
            </a:fld>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4264642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fld id="{3F9AFA87-1417-4992-ABD9-27C3BC8CC883}" type="datetimeFigureOut">
              <a:rPr lang="en-US" smtClean="0"/>
              <a:pPr algn="r"/>
              <a:t>9/11/2023</a:t>
            </a:fld>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7727297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5E8875-2A16-40DE-0399-CABA8B9639BD}"/>
              </a:ext>
            </a:extLst>
          </p:cNvPr>
          <p:cNvSpPr>
            <a:spLocks noGrp="1"/>
          </p:cNvSpPr>
          <p:nvPr>
            <p:ph type="ctrTitle"/>
          </p:nvPr>
        </p:nvSpPr>
        <p:spPr>
          <a:xfrm>
            <a:off x="762000" y="743804"/>
            <a:ext cx="4102609" cy="3793482"/>
          </a:xfrm>
        </p:spPr>
        <p:txBody>
          <a:bodyPr anchor="ctr">
            <a:normAutofit/>
          </a:bodyPr>
          <a:lstStyle/>
          <a:p>
            <a:pPr algn="l"/>
            <a:r>
              <a:rPr lang="en-US" sz="5400" dirty="0"/>
              <a:t>Rachit Bhatt</a:t>
            </a:r>
            <a:br>
              <a:rPr lang="en-US" sz="5400" dirty="0"/>
            </a:br>
            <a:r>
              <a:rPr lang="en-US" sz="3600" dirty="0"/>
              <a:t>C</a:t>
            </a:r>
            <a:r>
              <a:rPr lang="en-US" sz="5400" dirty="0"/>
              <a:t>0902810</a:t>
            </a:r>
            <a:endParaRPr lang="en-CA" sz="5400" dirty="0"/>
          </a:p>
        </p:txBody>
      </p:sp>
      <p:sp>
        <p:nvSpPr>
          <p:cNvPr id="3" name="Subtitle 2">
            <a:extLst>
              <a:ext uri="{FF2B5EF4-FFF2-40B4-BE49-F238E27FC236}">
                <a16:creationId xmlns:a16="http://schemas.microsoft.com/office/drawing/2014/main" id="{5FD0E83D-EFEA-2648-8549-D555B354310C}"/>
              </a:ext>
            </a:extLst>
          </p:cNvPr>
          <p:cNvSpPr>
            <a:spLocks noGrp="1"/>
          </p:cNvSpPr>
          <p:nvPr>
            <p:ph type="subTitle" idx="1"/>
          </p:nvPr>
        </p:nvSpPr>
        <p:spPr>
          <a:xfrm>
            <a:off x="762000" y="4691564"/>
            <a:ext cx="4102609" cy="1422631"/>
          </a:xfrm>
        </p:spPr>
        <p:txBody>
          <a:bodyPr>
            <a:normAutofit/>
          </a:bodyPr>
          <a:lstStyle/>
          <a:p>
            <a:pPr algn="l"/>
            <a:r>
              <a:rPr lang="en-US" dirty="0"/>
              <a:t>Python Programming</a:t>
            </a:r>
          </a:p>
          <a:p>
            <a:pPr algn="l"/>
            <a:r>
              <a:rPr lang="en-US" dirty="0"/>
              <a:t>Task #1</a:t>
            </a:r>
          </a:p>
          <a:p>
            <a:pPr algn="l"/>
            <a:r>
              <a:rPr lang="en-US" sz="1400" dirty="0"/>
              <a:t>11</a:t>
            </a:r>
            <a:r>
              <a:rPr lang="en-US" sz="1400" baseline="30000" dirty="0"/>
              <a:t>th</a:t>
            </a:r>
            <a:r>
              <a:rPr lang="en-US" sz="1400" dirty="0"/>
              <a:t> September 2023</a:t>
            </a:r>
            <a:endParaRPr lang="en-CA" sz="1400" dirty="0"/>
          </a:p>
        </p:txBody>
      </p:sp>
      <p:pic>
        <p:nvPicPr>
          <p:cNvPr id="4" name="Picture 3" descr="Blue and pink paint mixture">
            <a:extLst>
              <a:ext uri="{FF2B5EF4-FFF2-40B4-BE49-F238E27FC236}">
                <a16:creationId xmlns:a16="http://schemas.microsoft.com/office/drawing/2014/main" id="{DAC8E0F7-A7A0-223D-0439-1D1324AF12DA}"/>
              </a:ext>
            </a:extLst>
          </p:cNvPr>
          <p:cNvPicPr>
            <a:picLocks noChangeAspect="1"/>
          </p:cNvPicPr>
          <p:nvPr/>
        </p:nvPicPr>
        <p:blipFill rotWithShape="1">
          <a:blip r:embed="rId2"/>
          <a:srcRect l="7750" r="25648" b="-1"/>
          <a:stretch/>
        </p:blipFill>
        <p:spPr>
          <a:xfrm>
            <a:off x="5349241" y="10"/>
            <a:ext cx="6842759" cy="6857990"/>
          </a:xfrm>
          <a:prstGeom prst="rect">
            <a:avLst/>
          </a:prstGeom>
        </p:spPr>
      </p:pic>
    </p:spTree>
    <p:extLst>
      <p:ext uri="{BB962C8B-B14F-4D97-AF65-F5344CB8AC3E}">
        <p14:creationId xmlns:p14="http://schemas.microsoft.com/office/powerpoint/2010/main" val="405862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71E45-4E76-8704-F72F-744116FB8D3D}"/>
              </a:ext>
            </a:extLst>
          </p:cNvPr>
          <p:cNvSpPr>
            <a:spLocks noGrp="1"/>
          </p:cNvSpPr>
          <p:nvPr>
            <p:ph type="title"/>
          </p:nvPr>
        </p:nvSpPr>
        <p:spPr>
          <a:xfrm>
            <a:off x="1517904" y="758952"/>
            <a:ext cx="9144000" cy="1211996"/>
          </a:xfrm>
        </p:spPr>
        <p:txBody>
          <a:bodyPr>
            <a:noAutofit/>
          </a:bodyPr>
          <a:lstStyle/>
          <a:p>
            <a:r>
              <a:rPr lang="en-US" sz="2000" b="1" dirty="0">
                <a:latin typeface="Times New Roman" panose="02020603050405020304" pitchFamily="18" charset="0"/>
                <a:cs typeface="Times New Roman" panose="02020603050405020304" pitchFamily="18" charset="0"/>
              </a:rPr>
              <a:t>Q.1. Write 2 real-life examples of each feature of Object-Oriented Programming:</a:t>
            </a:r>
            <a:endParaRPr lang="en-CA"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854A42-1F10-B2C1-B17E-E5DC4BDCEDE3}"/>
              </a:ext>
            </a:extLst>
          </p:cNvPr>
          <p:cNvSpPr>
            <a:spLocks noGrp="1"/>
          </p:cNvSpPr>
          <p:nvPr>
            <p:ph idx="1"/>
          </p:nvPr>
        </p:nvSpPr>
        <p:spPr>
          <a:xfrm>
            <a:off x="1517904" y="1970949"/>
            <a:ext cx="9144000" cy="4195235"/>
          </a:xfrm>
        </p:spPr>
        <p:txBody>
          <a:bodyPr>
            <a:normAutofit/>
          </a:bodyPr>
          <a:lstStyle/>
          <a:p>
            <a:pPr algn="just"/>
            <a:r>
              <a:rPr lang="en-US" sz="1800" b="1" dirty="0">
                <a:latin typeface="Times New Roman" panose="02020603050405020304" pitchFamily="18" charset="0"/>
                <a:cs typeface="Times New Roman" panose="02020603050405020304" pitchFamily="18" charset="0"/>
              </a:rPr>
              <a:t>Abstraction:</a:t>
            </a:r>
            <a:r>
              <a:rPr lang="en-US" sz="1800" dirty="0">
                <a:latin typeface="Times New Roman" panose="02020603050405020304" pitchFamily="18" charset="0"/>
                <a:cs typeface="Times New Roman" panose="02020603050405020304" pitchFamily="18" charset="0"/>
              </a:rPr>
              <a:t> Approach of hiding the detailed information of method or class and only showing the essential information.</a:t>
            </a:r>
          </a:p>
          <a:p>
            <a:pPr algn="just"/>
            <a:r>
              <a:rPr lang="en-US" sz="1800" b="1" dirty="0">
                <a:latin typeface="Times New Roman" panose="02020603050405020304" pitchFamily="18" charset="0"/>
                <a:cs typeface="Times New Roman" panose="02020603050405020304" pitchFamily="18" charset="0"/>
              </a:rPr>
              <a:t>Class:</a:t>
            </a:r>
            <a:r>
              <a:rPr lang="en-US" sz="1800" dirty="0">
                <a:latin typeface="Times New Roman" panose="02020603050405020304" pitchFamily="18" charset="0"/>
                <a:cs typeface="Times New Roman" panose="02020603050405020304" pitchFamily="18" charset="0"/>
              </a:rPr>
              <a:t> Collection of data members and member functions which are accessible using objects created for that class.</a:t>
            </a:r>
            <a:endParaRPr lang="en-CA" sz="1800" b="1" dirty="0">
              <a:latin typeface="Times New Roman" panose="02020603050405020304" pitchFamily="18" charset="0"/>
              <a:cs typeface="Times New Roman" panose="02020603050405020304" pitchFamily="18" charset="0"/>
            </a:endParaRPr>
          </a:p>
          <a:p>
            <a:pPr algn="just"/>
            <a:r>
              <a:rPr lang="en-CA" sz="1800" b="1" dirty="0">
                <a:latin typeface="Times New Roman" panose="02020603050405020304" pitchFamily="18" charset="0"/>
                <a:cs typeface="Times New Roman" panose="02020603050405020304" pitchFamily="18" charset="0"/>
              </a:rPr>
              <a:t>Object:</a:t>
            </a:r>
            <a:r>
              <a:rPr lang="en-CA" sz="1800" dirty="0">
                <a:latin typeface="Times New Roman" panose="02020603050405020304" pitchFamily="18" charset="0"/>
                <a:cs typeface="Times New Roman" panose="02020603050405020304" pitchFamily="18" charset="0"/>
              </a:rPr>
              <a:t> A memory block and an approach for accessing various data members and member functions of the class of which the object has been declared.</a:t>
            </a:r>
          </a:p>
          <a:p>
            <a:pPr algn="just"/>
            <a:r>
              <a:rPr lang="en-US" sz="1800" b="1" dirty="0">
                <a:latin typeface="Times New Roman" panose="02020603050405020304" pitchFamily="18" charset="0"/>
                <a:cs typeface="Times New Roman" panose="02020603050405020304" pitchFamily="18" charset="0"/>
              </a:rPr>
              <a:t>Encapsulation:</a:t>
            </a:r>
            <a:r>
              <a:rPr lang="en-US" sz="1800" dirty="0">
                <a:latin typeface="Times New Roman" panose="02020603050405020304" pitchFamily="18" charset="0"/>
                <a:cs typeface="Times New Roman" panose="02020603050405020304" pitchFamily="18" charset="0"/>
              </a:rPr>
              <a:t> Bundling the data members and member functions in a class and accessible only using the objects created for that class.</a:t>
            </a:r>
          </a:p>
          <a:p>
            <a:pPr algn="just"/>
            <a:r>
              <a:rPr lang="en-US" sz="1800" b="1" dirty="0">
                <a:latin typeface="Times New Roman" panose="02020603050405020304" pitchFamily="18" charset="0"/>
                <a:cs typeface="Times New Roman" panose="02020603050405020304" pitchFamily="18" charset="0"/>
              </a:rPr>
              <a:t>Inheritance:</a:t>
            </a:r>
            <a:r>
              <a:rPr lang="en-US" sz="1800" dirty="0">
                <a:latin typeface="Times New Roman" panose="02020603050405020304" pitchFamily="18" charset="0"/>
                <a:cs typeface="Times New Roman" panose="02020603050405020304" pitchFamily="18" charset="0"/>
              </a:rPr>
              <a:t> Process of relating between two or more classes which allows reusability of code.</a:t>
            </a:r>
          </a:p>
          <a:p>
            <a:pPr algn="just"/>
            <a:r>
              <a:rPr lang="en-US" sz="1800" b="1" dirty="0">
                <a:latin typeface="Times New Roman" panose="02020603050405020304" pitchFamily="18" charset="0"/>
                <a:cs typeface="Times New Roman" panose="02020603050405020304" pitchFamily="18" charset="0"/>
              </a:rPr>
              <a:t>Polymorphism:</a:t>
            </a:r>
            <a:r>
              <a:rPr lang="en-US" sz="1800" dirty="0">
                <a:latin typeface="Times New Roman" panose="02020603050405020304" pitchFamily="18" charset="0"/>
                <a:cs typeface="Times New Roman" panose="02020603050405020304" pitchFamily="18" charset="0"/>
              </a:rPr>
              <a:t> Same name, many forms; an approach using which we can use same name of the method or other data in a class which has different implementation as per the class.</a:t>
            </a:r>
            <a:endParaRPr lang="en-US" sz="1800" b="1"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CC9EF8E2-67BC-290D-444F-A5D1B42D1C35}"/>
              </a:ext>
            </a:extLst>
          </p:cNvPr>
          <p:cNvGraphicFramePr>
            <a:graphicFrameLocks noGrp="1"/>
          </p:cNvGraphicFramePr>
          <p:nvPr>
            <p:extLst>
              <p:ext uri="{D42A27DB-BD31-4B8C-83A1-F6EECF244321}">
                <p14:modId xmlns:p14="http://schemas.microsoft.com/office/powerpoint/2010/main" val="2056542276"/>
              </p:ext>
            </p:extLst>
          </p:nvPr>
        </p:nvGraphicFramePr>
        <p:xfrm>
          <a:off x="2025904" y="1056548"/>
          <a:ext cx="8128000" cy="914400"/>
        </p:xfrm>
        <a:graphic>
          <a:graphicData uri="http://schemas.openxmlformats.org/drawingml/2006/table">
            <a:tbl>
              <a:tblPr>
                <a:tableStyleId>{2D5ABB26-0587-4C30-8999-92F81FD0307C}</a:tableStyleId>
              </a:tblPr>
              <a:tblGrid>
                <a:gridCol w="4064000">
                  <a:extLst>
                    <a:ext uri="{9D8B030D-6E8A-4147-A177-3AD203B41FA5}">
                      <a16:colId xmlns:a16="http://schemas.microsoft.com/office/drawing/2014/main" val="418750330"/>
                    </a:ext>
                  </a:extLst>
                </a:gridCol>
                <a:gridCol w="4064000">
                  <a:extLst>
                    <a:ext uri="{9D8B030D-6E8A-4147-A177-3AD203B41FA5}">
                      <a16:colId xmlns:a16="http://schemas.microsoft.com/office/drawing/2014/main" val="1236047113"/>
                    </a:ext>
                  </a:extLst>
                </a:gridCol>
              </a:tblGrid>
              <a:tr h="370840">
                <a:tc>
                  <a:txBody>
                    <a:bodyPr/>
                    <a:lstStyle/>
                    <a:p>
                      <a:r>
                        <a:rPr lang="en-US" b="1" dirty="0">
                          <a:latin typeface="Times New Roman" panose="02020603050405020304" pitchFamily="18" charset="0"/>
                          <a:cs typeface="Times New Roman" panose="02020603050405020304" pitchFamily="18" charset="0"/>
                        </a:rPr>
                        <a:t>- Abstraction</a:t>
                      </a:r>
                    </a:p>
                    <a:p>
                      <a:r>
                        <a:rPr lang="en-US" b="1" dirty="0">
                          <a:latin typeface="Times New Roman" panose="02020603050405020304" pitchFamily="18" charset="0"/>
                          <a:cs typeface="Times New Roman" panose="02020603050405020304" pitchFamily="18" charset="0"/>
                        </a:rPr>
                        <a:t>- Class</a:t>
                      </a:r>
                    </a:p>
                    <a:p>
                      <a:r>
                        <a:rPr lang="en-US" b="1" dirty="0">
                          <a:latin typeface="Times New Roman" panose="02020603050405020304" pitchFamily="18" charset="0"/>
                          <a:cs typeface="Times New Roman" panose="02020603050405020304" pitchFamily="18" charset="0"/>
                        </a:rPr>
                        <a:t>- Object</a:t>
                      </a:r>
                      <a:endParaRPr lang="en-CA"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 Encapsulation</a:t>
                      </a:r>
                    </a:p>
                    <a:p>
                      <a:r>
                        <a:rPr lang="en-US" b="1" dirty="0">
                          <a:latin typeface="Times New Roman" panose="02020603050405020304" pitchFamily="18" charset="0"/>
                          <a:cs typeface="Times New Roman" panose="02020603050405020304" pitchFamily="18" charset="0"/>
                        </a:rPr>
                        <a:t>- Inheritance</a:t>
                      </a:r>
                    </a:p>
                    <a:p>
                      <a:r>
                        <a:rPr lang="en-US" b="1" dirty="0">
                          <a:latin typeface="Times New Roman" panose="02020603050405020304" pitchFamily="18" charset="0"/>
                          <a:cs typeface="Times New Roman" panose="02020603050405020304" pitchFamily="18" charset="0"/>
                        </a:rPr>
                        <a:t>- Polymorphism</a:t>
                      </a:r>
                      <a:endParaRPr lang="en-CA"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2689716"/>
                  </a:ext>
                </a:extLst>
              </a:tr>
            </a:tbl>
          </a:graphicData>
        </a:graphic>
      </p:graphicFrame>
    </p:spTree>
    <p:extLst>
      <p:ext uri="{BB962C8B-B14F-4D97-AF65-F5344CB8AC3E}">
        <p14:creationId xmlns:p14="http://schemas.microsoft.com/office/powerpoint/2010/main" val="1814229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905D8-93B9-D457-DC2C-4DC08731C9A0}"/>
              </a:ext>
            </a:extLst>
          </p:cNvPr>
          <p:cNvSpPr>
            <a:spLocks noGrp="1"/>
          </p:cNvSpPr>
          <p:nvPr>
            <p:ph type="title"/>
          </p:nvPr>
        </p:nvSpPr>
        <p:spPr>
          <a:xfrm>
            <a:off x="1517904" y="1384594"/>
            <a:ext cx="9144000" cy="817185"/>
          </a:xfrm>
        </p:spPr>
        <p:txBody>
          <a:bodyPr/>
          <a:lstStyle/>
          <a:p>
            <a:pPr algn="ctr"/>
            <a:r>
              <a:rPr lang="en-US" b="1" dirty="0">
                <a:latin typeface="Times New Roman" panose="02020603050405020304" pitchFamily="18" charset="0"/>
                <a:cs typeface="Times New Roman" panose="02020603050405020304" pitchFamily="18" charset="0"/>
              </a:rPr>
              <a:t>Abstraction – Real Life Example</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38B9C7-A440-6C57-7B01-A2D5035908EA}"/>
              </a:ext>
            </a:extLst>
          </p:cNvPr>
          <p:cNvSpPr>
            <a:spLocks noGrp="1"/>
          </p:cNvSpPr>
          <p:nvPr>
            <p:ph sz="half" idx="1"/>
          </p:nvPr>
        </p:nvSpPr>
        <p:spPr>
          <a:xfrm>
            <a:off x="1517904" y="2707105"/>
            <a:ext cx="4334256" cy="3391943"/>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Using microwave oven for baking a pizza without knowing how the machine works.</a:t>
            </a:r>
          </a:p>
        </p:txBody>
      </p:sp>
      <p:sp>
        <p:nvSpPr>
          <p:cNvPr id="4" name="Content Placeholder 3">
            <a:extLst>
              <a:ext uri="{FF2B5EF4-FFF2-40B4-BE49-F238E27FC236}">
                <a16:creationId xmlns:a16="http://schemas.microsoft.com/office/drawing/2014/main" id="{B03C7C61-D91E-A7DE-8C2F-A549242A2121}"/>
              </a:ext>
            </a:extLst>
          </p:cNvPr>
          <p:cNvSpPr>
            <a:spLocks noGrp="1"/>
          </p:cNvSpPr>
          <p:nvPr>
            <p:ph sz="half" idx="2"/>
          </p:nvPr>
        </p:nvSpPr>
        <p:spPr>
          <a:xfrm>
            <a:off x="6336792" y="2707105"/>
            <a:ext cx="4334256" cy="3391943"/>
          </a:xfrm>
        </p:spPr>
        <p:txBody>
          <a:bodyPr/>
          <a:lstStyle/>
          <a:p>
            <a:r>
              <a:rPr lang="en-US" dirty="0">
                <a:latin typeface="Times New Roman" panose="02020603050405020304" pitchFamily="18" charset="0"/>
                <a:cs typeface="Times New Roman" panose="02020603050405020304" pitchFamily="18" charset="0"/>
              </a:rPr>
              <a:t>Using </a:t>
            </a:r>
            <a:r>
              <a:rPr lang="en-US" dirty="0" err="1">
                <a:latin typeface="Times New Roman" panose="02020603050405020304" pitchFamily="18" charset="0"/>
                <a:cs typeface="Times New Roman" panose="02020603050405020304" pitchFamily="18" charset="0"/>
              </a:rPr>
              <a:t>MatPlotLib</a:t>
            </a:r>
            <a:r>
              <a:rPr lang="en-US" dirty="0">
                <a:latin typeface="Times New Roman" panose="02020603050405020304" pitchFamily="18" charset="0"/>
                <a:cs typeface="Times New Roman" panose="02020603050405020304" pitchFamily="18" charset="0"/>
              </a:rPr>
              <a:t> package in Python and drawing various charts for analysis without knowing how it is built as a library.</a:t>
            </a:r>
            <a:endParaRPr lang="en-CA" dirty="0">
              <a:latin typeface="Times New Roman" panose="02020603050405020304" pitchFamily="18" charset="0"/>
              <a:cs typeface="Times New Roman" panose="02020603050405020304" pitchFamily="18" charset="0"/>
            </a:endParaRPr>
          </a:p>
          <a:p>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809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Class</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Making a laptop class that has CPU, RAM, Storage, and other useful components.</a:t>
            </a:r>
            <a:endParaRPr lang="en-CA"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Making a class of cars which includes Model, Engine Details, Wheel Info, Storage Capacity, and Color Shade.</a:t>
            </a:r>
          </a:p>
        </p:txBody>
      </p:sp>
    </p:spTree>
    <p:extLst>
      <p:ext uri="{BB962C8B-B14F-4D97-AF65-F5344CB8AC3E}">
        <p14:creationId xmlns:p14="http://schemas.microsoft.com/office/powerpoint/2010/main" val="3411066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Google-Pixel-7 can be an object of the class Mobile which has its own CPU, Memory, Storage, and Battery.</a:t>
            </a:r>
            <a:endParaRPr lang="en-CA"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lstStyle/>
          <a:p>
            <a:r>
              <a:rPr lang="en-US" dirty="0" err="1">
                <a:latin typeface="Times New Roman" panose="02020603050405020304" pitchFamily="18" charset="0"/>
                <a:cs typeface="Times New Roman" panose="02020603050405020304" pitchFamily="18" charset="0"/>
              </a:rPr>
              <a:t>Hundai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Alentra</a:t>
            </a:r>
            <a:r>
              <a:rPr lang="en-US" dirty="0">
                <a:latin typeface="Times New Roman" panose="02020603050405020304" pitchFamily="18" charset="0"/>
                <a:cs typeface="Times New Roman" panose="02020603050405020304" pitchFamily="18" charset="0"/>
              </a:rPr>
              <a:t> is a car which has its own car-engine, wheel-info, storage-capacity, and the color shades.</a:t>
            </a:r>
          </a:p>
        </p:txBody>
      </p:sp>
    </p:spTree>
    <p:extLst>
      <p:ext uri="{BB962C8B-B14F-4D97-AF65-F5344CB8AC3E}">
        <p14:creationId xmlns:p14="http://schemas.microsoft.com/office/powerpoint/2010/main" val="291183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Encapsulation</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A laptop bag which contains various electronic components such as mouse, keyboard, laptop, external disk, and pen-drive.</a:t>
            </a:r>
            <a:endParaRPr lang="en-CA"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A laptop having various internal components such as CPU, RAM, Storage, Webcam, Ports, Screen Detail, Graphics Card (GPU), Trackpad, Heatsink, and Software Support.</a:t>
            </a:r>
          </a:p>
        </p:txBody>
      </p:sp>
    </p:spTree>
    <p:extLst>
      <p:ext uri="{BB962C8B-B14F-4D97-AF65-F5344CB8AC3E}">
        <p14:creationId xmlns:p14="http://schemas.microsoft.com/office/powerpoint/2010/main" val="2628700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Inheritance</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 laptop’s components can be a mouse, keyboard, screen, processing components, and storage; while processing components can contain CPU, GPU, and custom chips.</a:t>
            </a:r>
            <a:endParaRPr lang="en-CA"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Python program is a subset of high-level programming language and so is Java, C, C++, C#, PHP, and JavaScript; while Python has a support to libraries such as Tensor-Flow,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MatPlotLib</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770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Polymorphism</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normAutofit/>
          </a:bodyPr>
          <a:lstStyle/>
          <a:p>
            <a:r>
              <a:rPr lang="en-US" dirty="0">
                <a:latin typeface="Times New Roman" panose="02020603050405020304" pitchFamily="18" charset="0"/>
                <a:cs typeface="Times New Roman" panose="02020603050405020304" pitchFamily="18" charset="0"/>
              </a:rPr>
              <a:t>Hydrogen can be in solid, liquid, and gases forms applying different chemistry.</a:t>
            </a:r>
            <a:endParaRPr lang="en-CA"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normAutofit/>
          </a:bodyPr>
          <a:lstStyle/>
          <a:p>
            <a:r>
              <a:rPr lang="en-US" dirty="0">
                <a:latin typeface="Times New Roman" panose="02020603050405020304" pitchFamily="18" charset="0"/>
                <a:cs typeface="Times New Roman" panose="02020603050405020304" pitchFamily="18" charset="0"/>
              </a:rPr>
              <a:t>Same snake can behave differently when in a calm environment and in an aggressive angry-making environment.</a:t>
            </a:r>
          </a:p>
        </p:txBody>
      </p:sp>
    </p:spTree>
    <p:extLst>
      <p:ext uri="{BB962C8B-B14F-4D97-AF65-F5344CB8AC3E}">
        <p14:creationId xmlns:p14="http://schemas.microsoft.com/office/powerpoint/2010/main" val="1825397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B2F-EDB8-2CDD-E2FD-47C4E527092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Q.2. Write answers to all questions from slides of Chapter 1.</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D7B58-A1A1-D564-6D14-7DEFB7C60F7D}"/>
              </a:ext>
            </a:extLst>
          </p:cNvPr>
          <p:cNvSpPr>
            <a:spLocks noGrp="1"/>
          </p:cNvSpPr>
          <p:nvPr>
            <p:ph sz="half" idx="1"/>
          </p:nvPr>
        </p:nvSpPr>
        <p:spPr/>
        <p:txBody>
          <a:bodyPr>
            <a:normAutofit/>
          </a:bodyPr>
          <a:lstStyle/>
          <a:p>
            <a:r>
              <a:rPr lang="en-US" b="1" dirty="0">
                <a:latin typeface="Times New Roman" panose="02020603050405020304" pitchFamily="18" charset="0"/>
                <a:cs typeface="Times New Roman" panose="02020603050405020304" pitchFamily="18" charset="0"/>
              </a:rPr>
              <a:t>List 1:</a:t>
            </a:r>
          </a:p>
          <a:p>
            <a:r>
              <a:rPr lang="en-US" sz="1600" b="1" dirty="0">
                <a:latin typeface="Times New Roman" panose="02020603050405020304" pitchFamily="18" charset="0"/>
                <a:cs typeface="Times New Roman" panose="02020603050405020304" pitchFamily="18" charset="0"/>
              </a:rPr>
              <a:t>Q1.</a:t>
            </a:r>
            <a:r>
              <a:rPr lang="en-US" sz="1600" dirty="0">
                <a:latin typeface="Times New Roman" panose="02020603050405020304" pitchFamily="18" charset="0"/>
                <a:cs typeface="Times New Roman" panose="02020603050405020304" pitchFamily="18" charset="0"/>
              </a:rPr>
              <a:t> Name a few high-level programming language.</a:t>
            </a:r>
          </a:p>
          <a:p>
            <a:r>
              <a:rPr lang="en-US" sz="1600" b="1" dirty="0">
                <a:latin typeface="Times New Roman" panose="02020603050405020304" pitchFamily="18" charset="0"/>
                <a:cs typeface="Times New Roman" panose="02020603050405020304" pitchFamily="18" charset="0"/>
              </a:rPr>
              <a:t>Q2.</a:t>
            </a:r>
            <a:r>
              <a:rPr lang="en-US" sz="1600" dirty="0">
                <a:latin typeface="Times New Roman" panose="02020603050405020304" pitchFamily="18" charset="0"/>
                <a:cs typeface="Times New Roman" panose="02020603050405020304" pitchFamily="18" charset="0"/>
              </a:rPr>
              <a:t> Why are there so many programming languages?</a:t>
            </a:r>
          </a:p>
          <a:p>
            <a:r>
              <a:rPr lang="en-US" sz="1600" b="1" dirty="0">
                <a:latin typeface="Times New Roman" panose="02020603050405020304" pitchFamily="18" charset="0"/>
                <a:cs typeface="Times New Roman" panose="02020603050405020304" pitchFamily="18" charset="0"/>
              </a:rPr>
              <a:t>Q3.</a:t>
            </a:r>
            <a:r>
              <a:rPr lang="en-US" sz="1600" dirty="0">
                <a:latin typeface="Times New Roman" panose="02020603050405020304" pitchFamily="18" charset="0"/>
                <a:cs typeface="Times New Roman" panose="02020603050405020304" pitchFamily="18" charset="0"/>
              </a:rPr>
              <a:t> Which programming languages have survived? Why?</a:t>
            </a:r>
            <a:endParaRPr lang="en-CA" sz="1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299338C-E5E1-6A09-64EE-2CF1AD0D0B64}"/>
              </a:ext>
            </a:extLst>
          </p:cNvPr>
          <p:cNvSpPr>
            <a:spLocks noGrp="1"/>
          </p:cNvSpPr>
          <p:nvPr>
            <p:ph sz="half" idx="2"/>
          </p:nvPr>
        </p:nvSpPr>
        <p:spPr/>
        <p:txBody>
          <a:bodyPr>
            <a:normAutofit/>
          </a:bodyPr>
          <a:lstStyle/>
          <a:p>
            <a:r>
              <a:rPr lang="en-US" b="1" dirty="0">
                <a:latin typeface="Times New Roman" panose="02020603050405020304" pitchFamily="18" charset="0"/>
                <a:cs typeface="Times New Roman" panose="02020603050405020304" pitchFamily="18" charset="0"/>
              </a:rPr>
              <a:t>List 2:</a:t>
            </a:r>
            <a:endParaRPr lang="en-US"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Q1.</a:t>
            </a:r>
            <a:r>
              <a:rPr lang="en-US" sz="1600" dirty="0">
                <a:latin typeface="Times New Roman" panose="02020603050405020304" pitchFamily="18" charset="0"/>
                <a:cs typeface="Times New Roman" panose="02020603050405020304" pitchFamily="18" charset="0"/>
              </a:rPr>
              <a:t> Let us spend a few minutes to find a few procedural programming languages.</a:t>
            </a:r>
          </a:p>
          <a:p>
            <a:r>
              <a:rPr lang="en-US" sz="1600" b="1" dirty="0">
                <a:latin typeface="Times New Roman" panose="02020603050405020304" pitchFamily="18" charset="0"/>
                <a:cs typeface="Times New Roman" panose="02020603050405020304" pitchFamily="18" charset="0"/>
              </a:rPr>
              <a:t>Q2.</a:t>
            </a:r>
            <a:r>
              <a:rPr lang="en-US" sz="1600" dirty="0">
                <a:latin typeface="Times New Roman" panose="02020603050405020304" pitchFamily="18" charset="0"/>
                <a:cs typeface="Times New Roman" panose="02020603050405020304" pitchFamily="18" charset="0"/>
              </a:rPr>
              <a:t> Let us spend a few minutes to find a few object-oriented programming languages.</a:t>
            </a:r>
          </a:p>
          <a:p>
            <a:r>
              <a:rPr lang="en-US" sz="1600" b="1" dirty="0">
                <a:latin typeface="Times New Roman" panose="02020603050405020304" pitchFamily="18" charset="0"/>
                <a:cs typeface="Times New Roman" panose="02020603050405020304" pitchFamily="18" charset="0"/>
              </a:rPr>
              <a:t>Q3.</a:t>
            </a:r>
            <a:r>
              <a:rPr lang="en-US" sz="1600" dirty="0">
                <a:latin typeface="Times New Roman" panose="02020603050405020304" pitchFamily="18" charset="0"/>
                <a:cs typeface="Times New Roman" panose="02020603050405020304" pitchFamily="18" charset="0"/>
              </a:rPr>
              <a:t> Advanced Topic (optional): Try to understand what encapsulation means in OOP and how it can be used in divide and conquer approach for solving various problems.</a:t>
            </a:r>
          </a:p>
        </p:txBody>
      </p:sp>
    </p:spTree>
    <p:extLst>
      <p:ext uri="{BB962C8B-B14F-4D97-AF65-F5344CB8AC3E}">
        <p14:creationId xmlns:p14="http://schemas.microsoft.com/office/powerpoint/2010/main" val="83808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8026" cy="1344168"/>
          </a:xfrm>
        </p:spPr>
        <p:txBody>
          <a:bodyPr>
            <a:normAutofit/>
          </a:bodyPr>
          <a:lstStyle/>
          <a:p>
            <a:r>
              <a:rPr lang="en-US" sz="4000" b="1" dirty="0">
                <a:latin typeface="Times New Roman" panose="02020603050405020304" pitchFamily="18" charset="0"/>
                <a:cs typeface="Times New Roman" panose="02020603050405020304" pitchFamily="18" charset="0"/>
              </a:rPr>
              <a:t>Q.2.1.1. Name a few high-level programming language.</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103120"/>
            <a:ext cx="10678026" cy="3995928"/>
          </a:xfrm>
        </p:spPr>
        <p:txBody>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Python</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Java</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C</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C++</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C#</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PHP</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R</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JavaScript</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HTML &amp; CSS</a:t>
            </a:r>
          </a:p>
          <a:p>
            <a:pPr marL="171450" lvl="1" indent="-171450" algn="just"/>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153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1344168"/>
          </a:xfrm>
        </p:spPr>
        <p:txBody>
          <a:bodyPr>
            <a:normAutofit/>
          </a:bodyPr>
          <a:lstStyle/>
          <a:p>
            <a:r>
              <a:rPr lang="en-US" sz="4000" b="1" dirty="0">
                <a:latin typeface="Times New Roman" panose="02020603050405020304" pitchFamily="18" charset="0"/>
                <a:cs typeface="Times New Roman" panose="02020603050405020304" pitchFamily="18" charset="0"/>
              </a:rPr>
              <a:t>Q.2.1.2. Why are there so many programming languages?</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103120"/>
            <a:ext cx="10651958" cy="3995928"/>
          </a:xfrm>
        </p:spPr>
        <p:txBody>
          <a:bodyPr>
            <a:normAutofit fontScale="92500" lnSpcReduction="10000"/>
          </a:bodyPr>
          <a:lstStyle/>
          <a:p>
            <a:pPr marL="342900" lvl="1" indent="-342900" algn="just"/>
            <a:r>
              <a:rPr lang="en-US" b="1" dirty="0">
                <a:latin typeface="Times New Roman" panose="02020603050405020304" pitchFamily="18" charset="0"/>
                <a:cs typeface="Times New Roman" panose="02020603050405020304" pitchFamily="18" charset="0"/>
              </a:rPr>
              <a:t>Reasons:</a:t>
            </a:r>
          </a:p>
          <a:p>
            <a:pPr marL="342900" lvl="1" indent="-342900" algn="just"/>
            <a:r>
              <a:rPr lang="en-US" dirty="0">
                <a:latin typeface="Times New Roman" panose="02020603050405020304" pitchFamily="18" charset="0"/>
                <a:cs typeface="Times New Roman" panose="02020603050405020304" pitchFamily="18" charset="0"/>
              </a:rPr>
              <a:t>- Compatibility issues with the hardware devices and other resources.</a:t>
            </a:r>
          </a:p>
          <a:p>
            <a:pPr marL="342900" lvl="1" indent="-342900" algn="just"/>
            <a:r>
              <a:rPr lang="en-US" dirty="0">
                <a:latin typeface="Times New Roman" panose="02020603050405020304" pitchFamily="18" charset="0"/>
                <a:cs typeface="Times New Roman" panose="02020603050405020304" pitchFamily="18" charset="0"/>
              </a:rPr>
              <a:t>- Compilation and interpretation process time.</a:t>
            </a:r>
          </a:p>
          <a:p>
            <a:pPr marL="342900" lvl="1" indent="-342900" algn="just"/>
            <a:r>
              <a:rPr lang="en-US" dirty="0">
                <a:latin typeface="Times New Roman" panose="02020603050405020304" pitchFamily="18" charset="0"/>
                <a:cs typeface="Times New Roman" panose="02020603050405020304" pitchFamily="18" charset="0"/>
              </a:rPr>
              <a:t>- User-interface.</a:t>
            </a:r>
          </a:p>
          <a:p>
            <a:pPr marL="342900" lvl="1" indent="-342900" algn="just"/>
            <a:r>
              <a:rPr lang="en-US" dirty="0">
                <a:latin typeface="Times New Roman" panose="02020603050405020304" pitchFamily="18" charset="0"/>
                <a:cs typeface="Times New Roman" panose="02020603050405020304" pitchFamily="18" charset="0"/>
              </a:rPr>
              <a:t>- Performance and latency.</a:t>
            </a:r>
          </a:p>
          <a:p>
            <a:pPr marL="342900" lvl="1" indent="-342900" algn="just"/>
            <a:r>
              <a:rPr lang="en-US" dirty="0">
                <a:latin typeface="Times New Roman" panose="02020603050405020304" pitchFamily="18" charset="0"/>
                <a:cs typeface="Times New Roman" panose="02020603050405020304" pitchFamily="18" charset="0"/>
              </a:rPr>
              <a:t>- Licensing problems.</a:t>
            </a:r>
          </a:p>
          <a:p>
            <a:pPr marL="342900" lvl="1" indent="-342900" algn="just"/>
            <a:r>
              <a:rPr lang="en-US" dirty="0">
                <a:latin typeface="Times New Roman" panose="02020603050405020304" pitchFamily="18" charset="0"/>
                <a:cs typeface="Times New Roman" panose="02020603050405020304" pitchFamily="18" charset="0"/>
              </a:rPr>
              <a:t>- Community support.</a:t>
            </a:r>
          </a:p>
          <a:p>
            <a:pPr marL="342900" lvl="1" indent="-342900" algn="just"/>
            <a:r>
              <a:rPr lang="en-US" dirty="0">
                <a:latin typeface="Times New Roman" panose="02020603050405020304" pitchFamily="18" charset="0"/>
                <a:cs typeface="Times New Roman" panose="02020603050405020304" pitchFamily="18" charset="0"/>
              </a:rPr>
              <a:t>- Syntax as a barrier (Ease of performing a task with given programming language).</a:t>
            </a:r>
          </a:p>
          <a:p>
            <a:pPr marL="342900" lvl="1" indent="-342900" algn="just"/>
            <a:r>
              <a:rPr lang="en-US" dirty="0">
                <a:latin typeface="Times New Roman" panose="02020603050405020304" pitchFamily="18" charset="0"/>
                <a:cs typeface="Times New Roman" panose="02020603050405020304" pitchFamily="18" charset="0"/>
              </a:rPr>
              <a:t>- Multi-tasking and asynchronous programming support.</a:t>
            </a:r>
          </a:p>
          <a:p>
            <a:pPr marL="342900" lvl="1" indent="-342900" algn="just"/>
            <a:r>
              <a:rPr lang="en-US" dirty="0">
                <a:latin typeface="Times New Roman" panose="02020603050405020304" pitchFamily="18" charset="0"/>
                <a:cs typeface="Times New Roman" panose="02020603050405020304" pitchFamily="18" charset="0"/>
              </a:rPr>
              <a:t>- Architecture and programming paradigms support (OOP, POP,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609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1344168"/>
          </a:xfrm>
        </p:spPr>
        <p:txBody>
          <a:bodyPr>
            <a:normAutofit/>
          </a:bodyPr>
          <a:lstStyle/>
          <a:p>
            <a:r>
              <a:rPr lang="en-US" sz="4000" b="1" dirty="0">
                <a:latin typeface="Times New Roman" panose="02020603050405020304" pitchFamily="18" charset="0"/>
                <a:cs typeface="Times New Roman" panose="02020603050405020304" pitchFamily="18" charset="0"/>
              </a:rPr>
              <a:t>Q.2.1.3. Which programming languages have survived? Why?</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103120"/>
            <a:ext cx="10651958" cy="3995928"/>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Java and C are those languages that has survived due of the fact that when these were in-demand, there were a lot of software and applications developed and now to maintain them, it is necessary to have developers to work on it.</a:t>
            </a:r>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09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1344168"/>
          </a:xfrm>
        </p:spPr>
        <p:txBody>
          <a:bodyPr>
            <a:normAutofit/>
          </a:bodyPr>
          <a:lstStyle/>
          <a:p>
            <a:r>
              <a:rPr lang="en-US" sz="4000" b="1" dirty="0">
                <a:latin typeface="Times New Roman" panose="02020603050405020304" pitchFamily="18" charset="0"/>
                <a:cs typeface="Times New Roman" panose="02020603050405020304" pitchFamily="18" charset="0"/>
              </a:rPr>
              <a:t>Q.2.2.1. Let us spend a few minutes to find a few procedural programming languages.</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103120"/>
            <a:ext cx="10651958" cy="3995928"/>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C, C++, Java, Pascal, BASIC, ALGOL, and COBEL are some of the procedural programming languages that uses step-by-step approach in order to execute the business logic implemented by a programmer.</a:t>
            </a:r>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14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1344168"/>
          </a:xfrm>
        </p:spPr>
        <p:txBody>
          <a:bodyPr>
            <a:normAutofit/>
          </a:bodyPr>
          <a:lstStyle/>
          <a:p>
            <a:r>
              <a:rPr lang="en-US" sz="4000" b="1" dirty="0">
                <a:latin typeface="Times New Roman" panose="02020603050405020304" pitchFamily="18" charset="0"/>
                <a:cs typeface="Times New Roman" panose="02020603050405020304" pitchFamily="18" charset="0"/>
              </a:rPr>
              <a:t>Q.2.2.2. Let us spend a few minutes to find a few object-oriented programming languages.</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103120"/>
            <a:ext cx="10651958" cy="3995928"/>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Python, Java, C++, JavaScript, PHP, C#, and R are some of the object-oriented programming languages that uses objects and classes while allowing the use of other OOP fundamentals and features in order to execute the business logic implemented by a developer.</a:t>
            </a:r>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615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1344168"/>
          </a:xfrm>
        </p:spPr>
        <p:txBody>
          <a:bodyPr>
            <a:normAutofit fontScale="90000"/>
          </a:bodyPr>
          <a:lstStyle/>
          <a:p>
            <a:r>
              <a:rPr lang="en-US" sz="4000" b="1" dirty="0">
                <a:latin typeface="Times New Roman" panose="02020603050405020304" pitchFamily="18" charset="0"/>
                <a:cs typeface="Times New Roman" panose="02020603050405020304" pitchFamily="18" charset="0"/>
              </a:rPr>
              <a:t>Q.2.2.3. Advanced Topic (optional): Try to understand what encapsulation means in OOP and how it can be used in divide and conquer approach for solving various problems.</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2884348"/>
            <a:ext cx="10651958" cy="3973652"/>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Encapsulation is a process of wrapping up the data member and member methods in a class which are accessible using objects created for that class.</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Divide and conquer is an approach on how a problem can be divided into sub-problems till it can not be divided further, solving those sub-problems, and gradually combining them in order to solve the actual problem.</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This approach not only makes it easier to understand the problem and divide it in as many resources as we are able to, but also can be completed faster and more effectively when the given problem is too big to solve and allows parallelism.</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Because encapsulation promotes the use of class which has various data members and member functions, it becomes easier to deploy a separate method for each individual small problems a class can consist of with provided arguments for variations.</a:t>
            </a:r>
          </a:p>
        </p:txBody>
      </p:sp>
    </p:spTree>
    <p:extLst>
      <p:ext uri="{BB962C8B-B14F-4D97-AF65-F5344CB8AC3E}">
        <p14:creationId xmlns:p14="http://schemas.microsoft.com/office/powerpoint/2010/main" val="1899150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713907"/>
          </a:xfrm>
        </p:spPr>
        <p:txBody>
          <a:bodyPr>
            <a:normAutofit/>
          </a:bodyPr>
          <a:lstStyle/>
          <a:p>
            <a:r>
              <a:rPr lang="en-US" sz="4000" b="1" dirty="0">
                <a:latin typeface="Times New Roman" panose="02020603050405020304" pitchFamily="18" charset="0"/>
                <a:cs typeface="Times New Roman" panose="02020603050405020304" pitchFamily="18" charset="0"/>
              </a:rPr>
              <a:t>Q.2.2.3. Example:</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1521952"/>
            <a:ext cx="10651958" cy="4577095"/>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When searched a question on a search engine (such as Google) provides a list of various answers but does not provide the information regarding from where did it searched or how did it gather and filtered-out the data for the user, simply shows the results.</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There would be various sub-processes happening parallelly in the background which would be dividing the query into various possible meaningful and then finding each individual results accordingly while conquering at the end with all of the results found.</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Everything happening over here is encapsulated and hidden from the user, and due to that fact it is not possible to predict whether one instance (object) performed this task or several together collectively for the same problem.</a:t>
            </a:r>
          </a:p>
        </p:txBody>
      </p:sp>
    </p:spTree>
    <p:extLst>
      <p:ext uri="{BB962C8B-B14F-4D97-AF65-F5344CB8AC3E}">
        <p14:creationId xmlns:p14="http://schemas.microsoft.com/office/powerpoint/2010/main" val="104946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3D25-F57D-9256-57F6-52202324C7E8}"/>
              </a:ext>
            </a:extLst>
          </p:cNvPr>
          <p:cNvSpPr>
            <a:spLocks noGrp="1"/>
          </p:cNvSpPr>
          <p:nvPr>
            <p:ph type="title"/>
          </p:nvPr>
        </p:nvSpPr>
        <p:spPr>
          <a:xfrm>
            <a:off x="770021" y="758952"/>
            <a:ext cx="10672011" cy="713907"/>
          </a:xfrm>
        </p:spPr>
        <p:txBody>
          <a:bodyPr>
            <a:normAutofit/>
          </a:bodyPr>
          <a:lstStyle/>
          <a:p>
            <a:r>
              <a:rPr lang="en-US" sz="4000" b="1" dirty="0">
                <a:latin typeface="Times New Roman" panose="02020603050405020304" pitchFamily="18" charset="0"/>
                <a:cs typeface="Times New Roman" panose="02020603050405020304" pitchFamily="18" charset="0"/>
              </a:rPr>
              <a:t>Q.2.2.3. Another Example:</a:t>
            </a:r>
            <a:endParaRPr lang="en-CA"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5B7EB-B11A-2FEE-B2FB-135F03B2D7E7}"/>
              </a:ext>
            </a:extLst>
          </p:cNvPr>
          <p:cNvSpPr>
            <a:spLocks noGrp="1"/>
          </p:cNvSpPr>
          <p:nvPr>
            <p:ph idx="1"/>
          </p:nvPr>
        </p:nvSpPr>
        <p:spPr>
          <a:xfrm>
            <a:off x="770021" y="1521952"/>
            <a:ext cx="10651958" cy="4577095"/>
          </a:xfrm>
        </p:spPr>
        <p:txBody>
          <a:bodyPr>
            <a:normAutofit/>
          </a:bodyPr>
          <a:lstStyle/>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There is a system which performs image-processing on a given image to find all the objects present in it.</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In this process, the system divides the given image in various segments in order to find various objects present in it and this can be a big hierarchy when the system is doing on an image that has too many objects.</a:t>
            </a:r>
          </a:p>
          <a:p>
            <a:pPr marL="171450" lvl="1" indent="-1714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However, the process is hidden and with the use of various methods present in a class can be helpful in dividing the image in more parts until it finds an object and then combines their results collectively showcasing a list of objects detected in that image.</a:t>
            </a:r>
          </a:p>
        </p:txBody>
      </p:sp>
    </p:spTree>
    <p:extLst>
      <p:ext uri="{BB962C8B-B14F-4D97-AF65-F5344CB8AC3E}">
        <p14:creationId xmlns:p14="http://schemas.microsoft.com/office/powerpoint/2010/main" val="1898654398"/>
      </p:ext>
    </p:extLst>
  </p:cSld>
  <p:clrMapOvr>
    <a:masterClrMapping/>
  </p:clrMapOvr>
</p:sld>
</file>

<file path=ppt/theme/theme1.xml><?xml version="1.0" encoding="utf-8"?>
<a:theme xmlns:a="http://schemas.openxmlformats.org/drawingml/2006/main" name="PrismaticVTI">
  <a:themeElements>
    <a:clrScheme name="AnalogousFromLightSeedLeftStep">
      <a:dk1>
        <a:srgbClr val="000000"/>
      </a:dk1>
      <a:lt1>
        <a:srgbClr val="FFFFFF"/>
      </a:lt1>
      <a:dk2>
        <a:srgbClr val="243541"/>
      </a:dk2>
      <a:lt2>
        <a:srgbClr val="E2E8E7"/>
      </a:lt2>
      <a:accent1>
        <a:srgbClr val="C6969C"/>
      </a:accent1>
      <a:accent2>
        <a:srgbClr val="BA7F9F"/>
      </a:accent2>
      <a:accent3>
        <a:srgbClr val="C492C2"/>
      </a:accent3>
      <a:accent4>
        <a:srgbClr val="A47FBA"/>
      </a:accent4>
      <a:accent5>
        <a:srgbClr val="A096C6"/>
      </a:accent5>
      <a:accent6>
        <a:srgbClr val="7F8BBA"/>
      </a:accent6>
      <a:hlink>
        <a:srgbClr val="568E87"/>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docProps/app.xml><?xml version="1.0" encoding="utf-8"?>
<Properties xmlns="http://schemas.openxmlformats.org/officeDocument/2006/extended-properties" xmlns:vt="http://schemas.openxmlformats.org/officeDocument/2006/docPropsVTypes">
  <TotalTime>86</TotalTime>
  <Words>1300</Words>
  <Application>Microsoft Office PowerPoint</Application>
  <PresentationFormat>Widescreen</PresentationFormat>
  <Paragraphs>84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Aharoni</vt:lpstr>
      <vt:lpstr>Arial</vt:lpstr>
      <vt:lpstr>Avenir Next LT Pro</vt:lpstr>
      <vt:lpstr>Times New Roman</vt:lpstr>
      <vt:lpstr>Wingdings</vt:lpstr>
      <vt:lpstr>PrismaticVTI</vt:lpstr>
      <vt:lpstr>Rachit Bhatt C0902810</vt:lpstr>
      <vt:lpstr>Q.1. Write 2 real-life examples of each feature of Object-Oriented Programming:</vt:lpstr>
      <vt:lpstr>Abstraction – Real Life Example</vt:lpstr>
      <vt:lpstr>Class</vt:lpstr>
      <vt:lpstr>Object</vt:lpstr>
      <vt:lpstr>Encapsulation</vt:lpstr>
      <vt:lpstr>Inheritance</vt:lpstr>
      <vt:lpstr>Polymorphism</vt:lpstr>
      <vt:lpstr>Q.2. Write answers to all questions from slides of Chapter 1.</vt:lpstr>
      <vt:lpstr>Q.2.1.1. Name a few high-level programming language.</vt:lpstr>
      <vt:lpstr>Q.2.1.2. Why are there so many programming languages?</vt:lpstr>
      <vt:lpstr>Q.2.1.3. Which programming languages have survived? Why?</vt:lpstr>
      <vt:lpstr>Q.2.2.1. Let us spend a few minutes to find a few procedural programming languages.</vt:lpstr>
      <vt:lpstr>Q.2.2.2. Let us spend a few minutes to find a few object-oriented programming languages.</vt:lpstr>
      <vt:lpstr>Q.2.2.3. Advanced Topic (optional): Try to understand what encapsulation means in OOP and how it can be used in divide and conquer approach for solving various problems.</vt:lpstr>
      <vt:lpstr>Q.2.2.3. Example:</vt:lpstr>
      <vt:lpstr>Q.2.2.3. Another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Rachit Bhatt</dc:creator>
  <cp:lastModifiedBy>Rachit Bhatt</cp:lastModifiedBy>
  <cp:revision>120</cp:revision>
  <dcterms:created xsi:type="dcterms:W3CDTF">2023-09-12T00:09:45Z</dcterms:created>
  <dcterms:modified xsi:type="dcterms:W3CDTF">2023-09-12T01:36:32Z</dcterms:modified>
</cp:coreProperties>
</file>